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usha Nallabelli" userId="0961db212ab0e9d2" providerId="LiveId" clId="{9B4C987D-A9C1-42F5-92E6-95942742AAAF}"/>
    <pc:docChg chg="addSld modSld">
      <pc:chgData name="Thanusha Nallabelli" userId="0961db212ab0e9d2" providerId="LiveId" clId="{9B4C987D-A9C1-42F5-92E6-95942742AAAF}" dt="2026-05-06T04:18:21.113" v="71" actId="20577"/>
      <pc:docMkLst>
        <pc:docMk/>
      </pc:docMkLst>
      <pc:sldChg chg="modSp mod">
        <pc:chgData name="Thanusha Nallabelli" userId="0961db212ab0e9d2" providerId="LiveId" clId="{9B4C987D-A9C1-42F5-92E6-95942742AAAF}" dt="2026-05-06T04:18:21.113" v="71" actId="20577"/>
        <pc:sldMkLst>
          <pc:docMk/>
          <pc:sldMk cId="0" sldId="261"/>
        </pc:sldMkLst>
        <pc:spChg chg="mod">
          <ac:chgData name="Thanusha Nallabelli" userId="0961db212ab0e9d2" providerId="LiveId" clId="{9B4C987D-A9C1-42F5-92E6-95942742AAAF}" dt="2026-05-06T04:18:21.113" v="71" actId="20577"/>
          <ac:spMkLst>
            <pc:docMk/>
            <pc:sldMk cId="0" sldId="261"/>
            <ac:spMk id="16" creationId="{00000000-0000-0000-0000-000000000000}"/>
          </ac:spMkLst>
        </pc:spChg>
      </pc:sldChg>
      <pc:sldChg chg="modSp mod">
        <pc:chgData name="Thanusha Nallabelli" userId="0961db212ab0e9d2" providerId="LiveId" clId="{9B4C987D-A9C1-42F5-92E6-95942742AAAF}" dt="2026-05-06T02:41:55.503" v="58" actId="20577"/>
        <pc:sldMkLst>
          <pc:docMk/>
          <pc:sldMk cId="0" sldId="268"/>
        </pc:sldMkLst>
        <pc:spChg chg="mod">
          <ac:chgData name="Thanusha Nallabelli" userId="0961db212ab0e9d2" providerId="LiveId" clId="{9B4C987D-A9C1-42F5-92E6-95942742AAAF}" dt="2026-05-06T02:41:01.097" v="9" actId="14100"/>
          <ac:spMkLst>
            <pc:docMk/>
            <pc:sldMk cId="0" sldId="268"/>
            <ac:spMk id="21" creationId="{00000000-0000-0000-0000-000000000000}"/>
          </ac:spMkLst>
        </pc:spChg>
        <pc:spChg chg="mod">
          <ac:chgData name="Thanusha Nallabelli" userId="0961db212ab0e9d2" providerId="LiveId" clId="{9B4C987D-A9C1-42F5-92E6-95942742AAAF}" dt="2026-05-06T02:41:55.503" v="58" actId="20577"/>
          <ac:spMkLst>
            <pc:docMk/>
            <pc:sldMk cId="0" sldId="268"/>
            <ac:spMk id="29" creationId="{00000000-0000-0000-0000-000000000000}"/>
          </ac:spMkLst>
        </pc:spChg>
      </pc:sldChg>
      <pc:sldChg chg="modSp mod">
        <pc:chgData name="Thanusha Nallabelli" userId="0961db212ab0e9d2" providerId="LiveId" clId="{9B4C987D-A9C1-42F5-92E6-95942742AAAF}" dt="2026-05-06T02:35:44.788" v="7" actId="1076"/>
        <pc:sldMkLst>
          <pc:docMk/>
          <pc:sldMk cId="0" sldId="270"/>
        </pc:sldMkLst>
        <pc:spChg chg="mod">
          <ac:chgData name="Thanusha Nallabelli" userId="0961db212ab0e9d2" providerId="LiveId" clId="{9B4C987D-A9C1-42F5-92E6-95942742AAAF}" dt="2026-05-06T02:35:44.788" v="7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Thanusha Nallabelli" userId="0961db212ab0e9d2" providerId="LiveId" clId="{9B4C987D-A9C1-42F5-92E6-95942742AAAF}" dt="2026-05-06T02:35:39.227" v="6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Thanusha Nallabelli" userId="0961db212ab0e9d2" providerId="LiveId" clId="{9B4C987D-A9C1-42F5-92E6-95942742AAAF}" dt="2026-05-06T02:35:09" v="5" actId="20577"/>
          <ac:spMkLst>
            <pc:docMk/>
            <pc:sldMk cId="0" sldId="270"/>
            <ac:spMk id="12" creationId="{00000000-0000-0000-0000-000000000000}"/>
          </ac:spMkLst>
        </pc:spChg>
      </pc:sldChg>
      <pc:sldChg chg="modSp mod">
        <pc:chgData name="Thanusha Nallabelli" userId="0961db212ab0e9d2" providerId="LiveId" clId="{9B4C987D-A9C1-42F5-92E6-95942742AAAF}" dt="2026-05-06T02:50:00.162" v="60" actId="1076"/>
        <pc:sldMkLst>
          <pc:docMk/>
          <pc:sldMk cId="0" sldId="271"/>
        </pc:sldMkLst>
        <pc:spChg chg="mod">
          <ac:chgData name="Thanusha Nallabelli" userId="0961db212ab0e9d2" providerId="LiveId" clId="{9B4C987D-A9C1-42F5-92E6-95942742AAAF}" dt="2026-05-06T02:50:00.162" v="60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Thanusha Nallabelli" userId="0961db212ab0e9d2" providerId="LiveId" clId="{9B4C987D-A9C1-42F5-92E6-95942742AAAF}" dt="2026-05-06T02:49:55.174" v="59" actId="20577"/>
          <ac:spMkLst>
            <pc:docMk/>
            <pc:sldMk cId="0" sldId="271"/>
            <ac:spMk id="4" creationId="{00000000-0000-0000-0000-000000000000}"/>
          </ac:spMkLst>
        </pc:spChg>
      </pc:sldChg>
      <pc:sldChg chg="addSp modSp new mod">
        <pc:chgData name="Thanusha Nallabelli" userId="0961db212ab0e9d2" providerId="LiveId" clId="{9B4C987D-A9C1-42F5-92E6-95942742AAAF}" dt="2026-05-06T03:35:47.581" v="66" actId="1076"/>
        <pc:sldMkLst>
          <pc:docMk/>
          <pc:sldMk cId="2525251208" sldId="273"/>
        </pc:sldMkLst>
        <pc:picChg chg="add mod">
          <ac:chgData name="Thanusha Nallabelli" userId="0961db212ab0e9d2" providerId="LiveId" clId="{9B4C987D-A9C1-42F5-92E6-95942742AAAF}" dt="2026-05-06T03:35:44.875" v="65" actId="1076"/>
          <ac:picMkLst>
            <pc:docMk/>
            <pc:sldMk cId="2525251208" sldId="273"/>
            <ac:picMk id="3" creationId="{2B1ABD19-DC8C-9DC4-7631-A0C75AA01E61}"/>
          </ac:picMkLst>
        </pc:picChg>
        <pc:picChg chg="add mod">
          <ac:chgData name="Thanusha Nallabelli" userId="0961db212ab0e9d2" providerId="LiveId" clId="{9B4C987D-A9C1-42F5-92E6-95942742AAAF}" dt="2026-05-06T03:35:47.581" v="66" actId="1076"/>
          <ac:picMkLst>
            <pc:docMk/>
            <pc:sldMk cId="2525251208" sldId="273"/>
            <ac:picMk id="5" creationId="{1BA3178B-1267-6C6D-FAA9-EE551CABB06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Macro F1 Score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 Score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06-49EB-AD4B-A469CFBE3AF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006-49EB-AD4B-A469CFBE3A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 Paper</c:v>
                </c:pt>
                <c:pt idx="1">
                  <c:v>Our System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0.55000000000000004</c:v>
                </c:pt>
                <c:pt idx="1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06-49EB-AD4B-A469CFBE3A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2433"/>
                </a:solidFill>
                <a:latin typeface="Arial"/>
              </a:rPr>
              <a:t>Per-Class F1 (MaxViT)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A5EA8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No Damage</c:v>
                </c:pt>
                <c:pt idx="1">
                  <c:v>Destroyed</c:v>
                </c:pt>
                <c:pt idx="2">
                  <c:v>Major</c:v>
                </c:pt>
                <c:pt idx="3">
                  <c:v>Minor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0.82</c:v>
                </c:pt>
                <c:pt idx="2">
                  <c:v>0.57999999999999996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5A-414B-ABC2-69243E8C1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C8D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8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PROJECT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Building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Assessment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468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Disaster Response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017520"/>
            <a:ext cx="3200400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&amp; Classifying Building Damage from Drone Imagery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Relying on Pre-Existing Maps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A&amp;M University  ·  CRASAR-U-DROIDs Dataset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Disaster Response Bottleneck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Cyclone hits. Rescue teams are ready. But nobody knows WHERE to go first.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GB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21358"/>
            <a:ext cx="1920240" cy="441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footage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every day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11430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23444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~300,000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95728" y="1721358"/>
            <a:ext cx="1920240" cy="441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25696" y="11430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123444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Hours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25696" y="1721358"/>
            <a:ext cx="1920240" cy="441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expert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time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55664" y="123444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55664" y="1721358"/>
            <a:ext cx="1920240" cy="441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experts review footage — people are still waiting for rescue.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80160" y="2788920"/>
            <a:ext cx="438912" cy="438912"/>
          </a:xfrm>
          <a:prstGeom prst="ellipse">
            <a:avLst/>
          </a:prstGeom>
          <a:solidFill>
            <a:srgbClr val="1A5EA8"/>
          </a:solidFill>
          <a:ln w="25400">
            <a:solidFill>
              <a:srgbClr val="1A5E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19072" y="3008376"/>
            <a:ext cx="530352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4128" y="35478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2788920"/>
            <a:ext cx="438912" cy="438912"/>
          </a:xfrm>
          <a:prstGeom prst="ellipse">
            <a:avLst/>
          </a:prstGeom>
          <a:solidFill>
            <a:srgbClr val="1A5EA8"/>
          </a:solidFill>
          <a:ln w="25400">
            <a:solidFill>
              <a:srgbClr val="1A5E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03904" y="3008376"/>
            <a:ext cx="530352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2–4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0" y="35478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9824" y="2788920"/>
            <a:ext cx="438912" cy="438912"/>
          </a:xfrm>
          <a:prstGeom prst="ellipse">
            <a:avLst/>
          </a:prstGeom>
          <a:solidFill>
            <a:srgbClr val="1A5EA8"/>
          </a:solidFill>
          <a:ln w="25400">
            <a:solidFill>
              <a:srgbClr val="1A5E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88736" y="3008376"/>
            <a:ext cx="530352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6944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6–28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93792" y="35478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34656" y="2788920"/>
            <a:ext cx="438912" cy="438912"/>
          </a:xfrm>
          <a:prstGeom prst="ellipse">
            <a:avLst/>
          </a:prstGeom>
          <a:solidFill>
            <a:srgbClr val="0A0A0A"/>
          </a:solidFill>
          <a:ln w="25400">
            <a:solidFill>
              <a:srgbClr val="1A5E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34656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51776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28+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78624" y="35478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System &amp; Its Critical Gaps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from Texas A&amp;M deployed during Hurricanes Debby &amp; Helene (2024) — but key limitations remain.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2926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3931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3657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Drone captures photos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3931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3657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Pre-existing map overlay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3931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42032"/>
            <a:ext cx="3657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AI analyses inside outlines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3931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18104"/>
            <a:ext cx="3657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Damage labels assigned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4206240" cy="2926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0515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38988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389888"/>
            <a:ext cx="36576" cy="804672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4356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Must Exist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pre-drawn outlines. Rural/remote areas fail completely.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39.1% degradation from misalignment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230428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304288"/>
            <a:ext cx="36576" cy="804672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3500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May Be Wrong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6060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Post-disaster reality doesn't match pre-disaster maps.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28346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Required manual field correction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321868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218688"/>
            <a:ext cx="36576" cy="804672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2644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Not Usable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5204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outputs couldn't be read by ArcGIS or standard tools.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37490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Added delay before decision-makers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Theory — It Was Already Deployed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2024, AI-based building damage assessment was used operationally in two real federally declared disasters.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7165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assessed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Debby &amp; Helene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11430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234440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95728" y="177165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days manually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25696" y="11430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1234440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25696" y="177165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govt. agencies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55664" y="11430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234440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55664" y="177165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use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 season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8412480" cy="1005840"/>
          </a:xfrm>
          <a:prstGeom prst="rect">
            <a:avLst/>
          </a:prstGeom>
          <a:solidFill>
            <a:srgbClr val="EBF2FB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14600"/>
            <a:ext cx="54864" cy="1005840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6060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of whether AI helps in disaster response has already been answered.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29443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project's question is: how do we make it better, faster, and more accessible — especially where maps don't exist?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 Two-Stage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pre-existing maps needed. No manual alignment. Works anywhere drones fly.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LOCALIZATION   |   Find the Buildings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42646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264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Raw drone image is the only 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393192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836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 scans every pixel like the human eye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4086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Detects building shapes from visual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393192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980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Draws its own outlines on detected buildings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5526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552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Works in mapped AND unmapped areas equally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Addresses 39.1% map-misalignment gap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2606040"/>
            <a:ext cx="411480" cy="0"/>
          </a:xfrm>
          <a:prstGeom prst="line">
            <a:avLst/>
          </a:prstGeom>
          <a:noFill/>
          <a:ln w="25400">
            <a:solidFill>
              <a:srgbClr val="1A5E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3931920" cy="329184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0515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CLASSIFICATION   |   Judge the Damage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42646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4264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detected building is assessed individually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883664"/>
            <a:ext cx="393192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8836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Assigned one of 4 damage labels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34086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3408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Given a confidence score for every prediction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798064"/>
            <a:ext cx="393192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7980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Uncertain predictions flagged for human review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3931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2552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Regional priority summary generated for managers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Adds confidence scores + usable output formats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CRASAR-U-DROIDs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behind our entire pipeline — 10 real federally declared disasters.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920240" cy="1005840"/>
          </a:xfrm>
          <a:prstGeom prst="rect">
            <a:avLst/>
          </a:prstGeom>
          <a:solidFill>
            <a:srgbClr val="103A6A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650492"/>
            <a:ext cx="192024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Orthomosaic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Maps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1097280"/>
            <a:ext cx="1920240" cy="1005840"/>
          </a:xfrm>
          <a:prstGeom prst="rect">
            <a:avLst/>
          </a:prstGeom>
          <a:solidFill>
            <a:srgbClr val="103A6A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188720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95728" y="1650492"/>
            <a:ext cx="192024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25696" y="1097280"/>
            <a:ext cx="1920240" cy="1005840"/>
          </a:xfrm>
          <a:prstGeom prst="rect">
            <a:avLst/>
          </a:prstGeom>
          <a:solidFill>
            <a:srgbClr val="103A6A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1188720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21,716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25696" y="1650492"/>
            <a:ext cx="192024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55664" y="1097280"/>
            <a:ext cx="1920240" cy="1005840"/>
          </a:xfrm>
          <a:prstGeom prst="rect">
            <a:avLst/>
          </a:prstGeom>
          <a:solidFill>
            <a:srgbClr val="103A6A"/>
          </a:solidFill>
          <a:ln w="12700">
            <a:solidFill>
              <a:srgbClr val="2E7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188720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GB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55664" y="1650492"/>
            <a:ext cx="1920240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Aerial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39319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86000"/>
            <a:ext cx="3931920" cy="320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697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Ian · Laura · Ida · Harvey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246120"/>
            <a:ext cx="3657600" cy="0"/>
          </a:xfrm>
          <a:prstGeom prst="line">
            <a:avLst/>
          </a:prstGeom>
          <a:noFill/>
          <a:ln w="6350">
            <a:solidFill>
              <a:srgbClr val="C8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192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Kilauea Eruption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867912"/>
            <a:ext cx="3657600" cy="0"/>
          </a:xfrm>
          <a:prstGeom prst="line">
            <a:avLst/>
          </a:prstGeom>
          <a:noFill/>
          <a:ln w="6350">
            <a:solidFill>
              <a:srgbClr val="C8D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410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Champlain Towers Collapse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28600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286000"/>
            <a:ext cx="4206240" cy="320040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2286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(Out-of-Distribution)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2697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Idalia · Hurricane Michael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246120"/>
            <a:ext cx="3931920" cy="0"/>
          </a:xfrm>
          <a:prstGeom prst="line">
            <a:avLst/>
          </a:prstGeom>
          <a:noFill/>
          <a:ln w="6350">
            <a:solidFill>
              <a:srgbClr val="C8D8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3192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Mussett Bayou Fire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867912"/>
            <a:ext cx="3931920" cy="0"/>
          </a:xfrm>
          <a:prstGeom prst="line">
            <a:avLst/>
          </a:prstGeom>
          <a:noFill/>
          <a:ln w="6350">
            <a:solidFill>
              <a:srgbClr val="C8D8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94106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Mayfield Tornado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transform raw gigapixel drone maps into clean AI-ready training tiles.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502920" cy="1078992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7899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GeoTIFF + JSON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48132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giant drone orthomosaic and building annotation files.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502920" cy="1078992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8600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3957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Correction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68833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building outline offsets using aligned JSON coordinates.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93008"/>
            <a:ext cx="502920" cy="1078992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93008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60273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Masks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389534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building polygons as white pixels on a black canvas.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107899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078992"/>
            <a:ext cx="502920" cy="1078992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07899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11887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into 512×512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94960" y="148132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giant image into puzzle pieces with 128px overlap.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28600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286000"/>
            <a:ext cx="502920" cy="1078992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28600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94960" y="23957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94960" y="268833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tiles containing buildings. Discard empty background tiles.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493008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493008"/>
            <a:ext cx="502920" cy="1078992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493008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360273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&amp; Normalize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94960" y="389534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rotate, brightness shifts. Standardize to ImageNet norms.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cutting a giant map into puzzle pieces, keeping only pieces with buildings, then training AI from every angle.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Localization: Experimental Journey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improvement from basic CNN to Transformer architecture.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530028"/>
              </p:ext>
            </p:extLst>
          </p:nvPr>
        </p:nvGraphicFramePr>
        <p:xfrm>
          <a:off x="365760" y="1051560"/>
          <a:ext cx="854964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Change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IoU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U-Net (Basic CNN)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Baseline — Dice Loss only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0.31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Dice Loss can't handle class imbalance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U-Net + ResNet34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Stronger CNN encoder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0.45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Pre-trained encoders help significantly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U-Net + ResNet34 + Geo Split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Realistic OOD evaluation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0.67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0.51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Disaster-level splits needed for true testing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U-Net + EfficientNet-B4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Strongest CNN encoder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Best CNN result — hit the ceiling here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 err="1">
                          <a:solidFill>
                            <a:srgbClr val="1A5EA8"/>
                          </a:solidFill>
                        </a:rPr>
                        <a:t>UNet</a:t>
                      </a: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 + MiT-B3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Transformer encoder — global context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0.72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0.60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Transformer vision breaks through the ceiling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6350">
            <a:solidFill>
              <a:srgbClr val="C8D8E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Final Model: UNet + MiT-B3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Transformer B3 encoder — sees both global and local context simultaneously.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54864" cy="7498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1556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MiT-B3 Encoder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Transformer — sees both global and local context across the full image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20240"/>
            <a:ext cx="54864" cy="7498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8424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Decoder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2585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full-resolution building mask from multi-scale features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88920"/>
            <a:ext cx="54864" cy="7498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529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scSE Attention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1272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decoder on building pixels vs. background noise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57600"/>
            <a:ext cx="54864" cy="7498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72160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9959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rich learned visual knowledge — faster convergence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051560"/>
            <a:ext cx="2560320" cy="3200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(OOD Test)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783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621792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IoU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834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0.722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Score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4 completely unseen disasters: Idalia · Michael · Mussett Fire · Mayfield Tornado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19"/>
            <a:ext cx="8229600" cy="621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Mask → Individual Building Crops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66344" y="3846960"/>
            <a:ext cx="8138160" cy="26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Stage 1 outputs a building mask. 5 steps convert it to individual building images for Stage 2.</a:t>
            </a:r>
            <a:endParaRPr lang="en-US" sz="1100" b="1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097280"/>
            <a:ext cx="1554480" cy="2278379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097280"/>
            <a:ext cx="1554480" cy="36576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252728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MiT-B3 outputs white=building, black=background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20240" y="2651760"/>
            <a:ext cx="91440" cy="0"/>
          </a:xfrm>
          <a:prstGeom prst="line">
            <a:avLst/>
          </a:prstGeom>
          <a:noFill/>
          <a:ln w="12700">
            <a:solidFill>
              <a:srgbClr val="1A5E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097280"/>
            <a:ext cx="1554480" cy="227837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097280"/>
            <a:ext cx="1554480" cy="36576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234440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18470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Buildings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395728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connected white pixels into separate regions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2651760"/>
            <a:ext cx="91440" cy="0"/>
          </a:xfrm>
          <a:prstGeom prst="line">
            <a:avLst/>
          </a:prstGeom>
          <a:noFill/>
          <a:ln w="12700">
            <a:solidFill>
              <a:srgbClr val="1A5E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1097280"/>
            <a:ext cx="1554480" cy="227837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1097280"/>
            <a:ext cx="1554480" cy="36576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1234440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18470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2395728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· Pixel area · </a:t>
            </a:r>
            <a:r>
              <a:rPr lang="en-US" sz="95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0" y="2651760"/>
            <a:ext cx="91440" cy="0"/>
          </a:xfrm>
          <a:prstGeom prst="line">
            <a:avLst/>
          </a:prstGeom>
          <a:noFill/>
          <a:ln w="12700">
            <a:solidFill>
              <a:srgbClr val="1A5E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1097280"/>
            <a:ext cx="1554480" cy="227837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1097280"/>
            <a:ext cx="1554480" cy="36576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2160" y="1234440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18470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Buildings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2395728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each building from the original high-res image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58000" y="2651760"/>
            <a:ext cx="91440" cy="0"/>
          </a:xfrm>
          <a:prstGeom prst="line">
            <a:avLst/>
          </a:prstGeom>
          <a:noFill/>
          <a:ln w="12700">
            <a:solidFill>
              <a:srgbClr val="1A5E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1097280"/>
            <a:ext cx="1554480" cy="227837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1097280"/>
            <a:ext cx="1554480" cy="36576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0" y="1234440"/>
            <a:ext cx="457200" cy="4572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18470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Stage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2395728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crop sent to MaxViT for damage classification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43434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BCD46536-FCC1-71ED-F4A4-FC609F8409FC}"/>
              </a:ext>
            </a:extLst>
          </p:cNvPr>
          <p:cNvSpPr/>
          <p:nvPr/>
        </p:nvSpPr>
        <p:spPr>
          <a:xfrm flipV="1">
            <a:off x="457200" y="4504943"/>
            <a:ext cx="8321040" cy="45719"/>
          </a:xfrm>
          <a:prstGeom prst="rect">
            <a:avLst/>
          </a:prstGeom>
          <a:solidFill>
            <a:srgbClr val="1A5EA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Classification: Experimental Journey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introduced better techniques. Hardest challenge: distinguishing Minor from Major damage.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930581"/>
              </p:ext>
            </p:extLst>
          </p:nvPr>
        </p:nvGraphicFramePr>
        <p:xfrm>
          <a:off x="365760" y="1051560"/>
          <a:ext cx="8412480" cy="263347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Techniques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Macro F1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Innovation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EfficientNet-B4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CNN baseline — Focal Loss</a:t>
                      </a:r>
                      <a:endParaRPr lang="en-US" sz="950" dirty="0"/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+ Label Smoothing + MixUp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57%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Focal Loss handles class imbalance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ConvNeXt-Base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Stronger backbone + EMA</a:t>
                      </a:r>
                      <a:endParaRPr lang="en-US" sz="950" dirty="0"/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+ CutMix + OneCycle LR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0.63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65%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</a:rPr>
                        <a:t>EMA smoothing + CutMix augmentation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 err="1">
                          <a:solidFill>
                            <a:srgbClr val="1A5EA8"/>
                          </a:solidFill>
                        </a:rPr>
                        <a:t>MaxViT</a:t>
                      </a: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-Base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Multi-axis Transformer</a:t>
                      </a:r>
                      <a:endParaRPr lang="en-US" sz="950" dirty="0"/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+ Lion optimizer + 8×TTA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0.69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72%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5EA8"/>
                          </a:solidFill>
                        </a:rPr>
                        <a:t>Multi-axis attention: local + global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EBF2FB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3931920"/>
            <a:ext cx="54864" cy="868680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950208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Hardest class pair: Minor (F1=0.55) vs Major (F1=0.58) — subtle damage differences require both fine texture and global structure to distinguish.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Final Model: MaxViT-Base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Multi-Axis Vision Transformer — local texture AND global structural context simultaneously.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54864" cy="7498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155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MBConv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CNN — captures roof textures, surface cracks, and fine edge details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20240"/>
            <a:ext cx="54864" cy="7498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84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Attention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258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transformer — captures building-level damage patterns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88920"/>
            <a:ext cx="54864" cy="7498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529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Attention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127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transformer — captures regional context across buildings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5303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57600"/>
            <a:ext cx="54864" cy="74980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721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ImageNet-21k Pretrained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995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21M image pretraining — much stronger starting point than ImageNet-1k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28360" y="1130808"/>
            <a:ext cx="2743200" cy="33375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603504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Damage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56907" y="181355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20370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52030" y="23042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715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52030" y="2852928"/>
            <a:ext cx="673912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32278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56907" y="3319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3794760"/>
            <a:ext cx="2651760" cy="0"/>
          </a:xfrm>
          <a:prstGeom prst="line">
            <a:avLst/>
          </a:prstGeom>
          <a:noFill/>
          <a:ln w="6350">
            <a:solidFill>
              <a:srgbClr val="2A4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858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0.69  |  Accuracy: 72%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Pipeline: Drone Image → Emergency Decision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gigapixel drone map of a disaster zone. Output: ranked building priority list, ready within minutes.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1325880" cy="36576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2471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Drone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5453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orthomosaic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55064" y="1261872"/>
            <a:ext cx="9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55648" y="1078992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12471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55648" y="15453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· Align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· Filter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90672" y="1261872"/>
            <a:ext cx="9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91256" y="1078992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112471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91256" y="15453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IoU: 0.60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 needed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26280" y="1261872"/>
            <a:ext cx="9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26864" y="1078992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12471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26864" y="1577340"/>
            <a:ext cx="1325880" cy="3337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+ GPS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61888" y="1261872"/>
            <a:ext cx="9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62472" y="1078992"/>
            <a:ext cx="1325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112471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MaxViT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62472" y="15453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0.69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damage classes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97496" y="1261872"/>
            <a:ext cx="9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98080" y="1078992"/>
            <a:ext cx="1325880" cy="868680"/>
          </a:xfrm>
          <a:prstGeom prst="rect">
            <a:avLst/>
          </a:prstGeom>
          <a:solidFill>
            <a:srgbClr val="0D2137"/>
          </a:solidFill>
          <a:ln w="25400">
            <a:solidFill>
              <a:srgbClr val="1A5E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12471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98080" y="15453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flagged buildings + Overview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2176272"/>
            <a:ext cx="8503920" cy="2926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17627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ZONE: Suwannee County, FL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523744"/>
            <a:ext cx="158191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633472"/>
            <a:ext cx="1581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20040" y="3246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buildings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75104" y="2523744"/>
            <a:ext cx="158191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75104" y="2633472"/>
            <a:ext cx="1581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+ 41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1975104" y="3246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damage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30168" y="2523744"/>
            <a:ext cx="158191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0168" y="2633472"/>
            <a:ext cx="1581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3630168" y="3246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58384" y="2537460"/>
            <a:ext cx="158191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85232" y="2633472"/>
            <a:ext cx="1581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5285232" y="3246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damage</a:t>
            </a:r>
            <a:endParaRPr lang="en-US" sz="900" dirty="0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EAB78412-755E-2671-25D3-784EED0176A1}"/>
              </a:ext>
            </a:extLst>
          </p:cNvPr>
          <p:cNvSpPr/>
          <p:nvPr/>
        </p:nvSpPr>
        <p:spPr>
          <a:xfrm>
            <a:off x="7200900" y="2537460"/>
            <a:ext cx="158191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00900" y="2660904"/>
            <a:ext cx="15087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159752" y="3246120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How Well Does Our System Perform?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stages tested on completely unseen disasters (out-of-distribution evaluation).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550135618"/>
              </p:ext>
            </p:extLst>
          </p:nvPr>
        </p:nvGraphicFramePr>
        <p:xfrm>
          <a:off x="365760" y="109728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669280" y="1097280"/>
          <a:ext cx="3108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498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+25.5% improvement over baseline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 It? Three Layers of Reliability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697480" cy="3657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562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Real Disasters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22576"/>
            <a:ext cx="1965960" cy="0"/>
          </a:xfrm>
          <a:prstGeom prst="line">
            <a:avLst/>
          </a:prstGeom>
          <a:noFill/>
          <a:ln w="6350">
            <a:solidFill>
              <a:srgbClr val="C8D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tested on 10 actual federally declared disasters — not simulations. Hurricanes, tornadoes, wildfires, volcano eruptions, building collapses.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21,716 building labels. 200+ GB of real disaster aerial imagery.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0515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051560"/>
            <a:ext cx="2697480" cy="36576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6" name="Text 14"/>
          <p:cNvSpPr/>
          <p:nvPr/>
        </p:nvSpPr>
        <p:spPr>
          <a:xfrm>
            <a:off x="4288536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18562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Predictions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84448" y="2322576"/>
            <a:ext cx="1965960" cy="0"/>
          </a:xfrm>
          <a:prstGeom prst="line">
            <a:avLst/>
          </a:prstGeom>
          <a:noFill/>
          <a:ln w="6350">
            <a:solidFill>
              <a:srgbClr val="C8D8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395728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includes a confidence score. If the model is uncertain, it says so. Uncertain predictions are automatically flagged for human review.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confidence → sent directly to manager. 58% confidence → flagged for human expert.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105156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051560"/>
            <a:ext cx="2697480" cy="36576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1170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8776" y="18562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 Ground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37376" y="2322576"/>
            <a:ext cx="1965960" cy="0"/>
          </a:xfrm>
          <a:prstGeom prst="line">
            <a:avLst/>
          </a:prstGeom>
          <a:noFill/>
          <a:ln w="6350">
            <a:solidFill>
              <a:srgbClr val="C8D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2395728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AI-based damage assessment approach has been validated by real government agencies during the 2024 hurricane season.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operationally in Hurricanes Debby &amp; Helene. Adopted by 57 agencies.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51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Built. Why It Matters.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C8D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064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179576"/>
            <a:ext cx="0" cy="402336"/>
          </a:xfrm>
          <a:prstGeom prst="line">
            <a:avLst/>
          </a:prstGeom>
          <a:noFill/>
          <a:ln w="10160">
            <a:solidFill>
              <a:srgbClr val="C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106424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disaster teams drown in drone footage. AI is the only practical solution fast enough to matter.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10512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6537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938528"/>
            <a:ext cx="0" cy="402336"/>
          </a:xfrm>
          <a:prstGeom prst="line">
            <a:avLst/>
          </a:prstGeom>
          <a:noFill/>
          <a:ln w="10160">
            <a:solidFill>
              <a:srgbClr val="C8D8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865376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system deployed in two real hurricanes in 2024. 415 buildings assessed in 18 minutes. Adopted by 57 govt. agencies.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946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9464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24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Key Weakness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2697480"/>
            <a:ext cx="0" cy="402336"/>
          </a:xfrm>
          <a:prstGeom prst="line">
            <a:avLst/>
          </a:prstGeom>
          <a:noFill/>
          <a:ln w="10160">
            <a:solidFill>
              <a:srgbClr val="C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624328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depended on pre-existing maps that often don't exist or are misaligned. Our Stage 1 removes that dependency entirely.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28416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What Was Missing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456432"/>
            <a:ext cx="0" cy="402336"/>
          </a:xfrm>
          <a:prstGeom prst="line">
            <a:avLst/>
          </a:prstGeom>
          <a:noFill/>
          <a:ln w="10160">
            <a:solidFill>
              <a:srgbClr val="C8D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383280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scores, regional priority summaries, and output formats emergency managers can actually use.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8736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87368"/>
            <a:ext cx="54864" cy="658368"/>
          </a:xfrm>
          <a:prstGeom prst="rect">
            <a:avLst/>
          </a:prstGeom>
          <a:solidFill>
            <a:srgbClr val="1A5EA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422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Anywhere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06040" y="4215384"/>
            <a:ext cx="0" cy="402336"/>
          </a:xfrm>
          <a:prstGeom prst="line">
            <a:avLst/>
          </a:prstGeom>
          <a:noFill/>
          <a:ln w="10160">
            <a:solidFill>
              <a:srgbClr val="C8D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4142232"/>
            <a:ext cx="5897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 needed means this system works in rural, remote, and developing regions where existing tools completely fail.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1ABD19-DC8C-9DC4-7631-A0C75AA01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78" y="812214"/>
            <a:ext cx="8011643" cy="38391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A3178B-1267-6C6D-FAA9-EE551CABB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992" y="178713"/>
            <a:ext cx="2372056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51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Building Damage Assessment for Disaster Response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880360"/>
            <a:ext cx="3200400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Discussion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CRASAR-U-DROIDs  ·  10 Federally Declared Disasters  ·  21,716 Building Labels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Manzini et al. (2025) — Deploying Rapid Damage Assessments from sUAS Imagery  ·  AAAI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1562</Words>
  <Application>Microsoft Office PowerPoint</Application>
  <PresentationFormat>On-screen Show (16:9)</PresentationFormat>
  <Paragraphs>331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Building Damage Assessment for Disaster Response</dc:title>
  <dc:subject>PptxGenJS Presentation</dc:subject>
  <dc:creator>PptxGenJS</dc:creator>
  <cp:lastModifiedBy>Thanusha Nallabelli</cp:lastModifiedBy>
  <cp:revision>3</cp:revision>
  <dcterms:created xsi:type="dcterms:W3CDTF">2026-05-05T17:31:14Z</dcterms:created>
  <dcterms:modified xsi:type="dcterms:W3CDTF">2026-05-06T04:18:30Z</dcterms:modified>
</cp:coreProperties>
</file>