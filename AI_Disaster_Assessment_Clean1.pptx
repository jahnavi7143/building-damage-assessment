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1E88E5"/>
                </a:solidFill>
              </a:rPr>
              <a:t>SEMESTER PROJECT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6858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AI-Powered Building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Damage Assessment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for Disaster Response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3F0FC"/>
                </a:solidFill>
              </a:rPr>
              <a:t>Detecting &amp; Classifying Building Damage from Drone Imagery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3F0FC"/>
                </a:solidFill>
              </a:rPr>
              <a:t>Without Relying on Pre-Existing Maps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4160520"/>
            <a:ext cx="8229600" cy="182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Texas A&amp;M University  ·  CRASAR-U-DROIDs Dataset  · 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</a:rPr>
              <a:t>The Problem: Disaster Response Bottleneck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46E7A"/>
                </a:solidFill>
              </a:rPr>
              <a:t>A Category 4 hurricane hits. Rescue teams are ready. But nobody knows WHERE to go first.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965960" cy="1371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2763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88E5"/>
                </a:solidFill>
              </a:rPr>
              <a:t>300 GB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212848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Drone footage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arrives every day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554480"/>
            <a:ext cx="1965960" cy="1371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62763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88E5"/>
                </a:solidFill>
              </a:rPr>
              <a:t>~300,000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06040" y="2212848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Photographs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 review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1965960" cy="1371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62763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88E5"/>
                </a:solidFill>
              </a:rPr>
              <a:t>24+ Hours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54880" y="2212848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Manual expert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analysis time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1554480"/>
            <a:ext cx="1965960" cy="1371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162763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88E5"/>
                </a:solidFill>
              </a:rPr>
              <a:t>0 Mins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03720" y="2212848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Time victims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have to wait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46E7A"/>
                </a:solidFill>
              </a:rPr>
              <a:t>While experts review footage — people are still waiting for rescue.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143000" y="3429000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931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</a:rPr>
              <a:t>Hour 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Hurricane hits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57400" y="3611880"/>
            <a:ext cx="64008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3429000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697480" y="3931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</a:rPr>
              <a:t>Hour 2–4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9748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Drones deployed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0" y="3611880"/>
            <a:ext cx="64008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57800" y="3429000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54880" y="3931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</a:rPr>
              <a:t>Hour 6–28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Manual review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3611880"/>
            <a:ext cx="64008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0" y="3429000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12280" y="3931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</a:rPr>
              <a:t>Hour 28+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1228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Rescue begins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</a:rPr>
              <a:t>Existing AI System &amp; Its Critical Gaps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46E7A"/>
                </a:solidFill>
              </a:rPr>
              <a:t>Research from Texas A&amp;M deployed during Hurricanes Debby &amp; Helene (2024) — but key limitations remain.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749040" cy="3108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36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E88E5"/>
                </a:solidFill>
              </a:rPr>
              <a:t>HOW IT WORKS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993392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93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" y="1965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Drone captures photos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633472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6334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" y="2606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Pre-existing map overlay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273552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2735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" y="3246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AI analyses inside outlines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913632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9136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51560" y="3886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Damage labels assigned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80560" y="1463040"/>
            <a:ext cx="4206240" cy="3108960"/>
          </a:xfrm>
          <a:prstGeom prst="rect">
            <a:avLst/>
          </a:prstGeom>
          <a:solidFill>
            <a:srgbClr val="E3F0FC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153619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565C0"/>
                </a:solidFill>
              </a:rPr>
              <a:t>CRITICAL GAPS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1920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Map Must Exist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63440" y="2194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Needs pre-drawn outlines. Rural/remote areas fail completely.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245059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565C0"/>
                </a:solidFill>
              </a:rPr>
              <a:t>⚠ 39.1% degradation from misalignment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3440" y="2788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Maps May Be Wrong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3063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Post-disaster reality doesn't match pre-disaster maps.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33192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565C0"/>
                </a:solidFill>
              </a:rPr>
              <a:t>⚠ Required manual field correction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63440" y="3657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Output Not Usable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63440" y="3931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Initial outputs couldn't be read by ArcGIS or standard tools.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63440" y="418795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565C0"/>
                </a:solidFill>
              </a:rPr>
              <a:t>⚠ Added delay before decision-makers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Theory — It Was Already Deployed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869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3F0FC"/>
                </a:solidFill>
              </a:rPr>
              <a:t>In 2024, AI-based building damage assessment was used operationally in two real federally declared disasters.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965960" cy="1417320"/>
          </a:xfrm>
          <a:prstGeom prst="rect">
            <a:avLst/>
          </a:prstGeom>
          <a:solidFill>
            <a:srgbClr val="102943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88E5"/>
                </a:solidFill>
              </a:rPr>
              <a:t>415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F0FC"/>
                </a:solidFill>
              </a:rPr>
              <a:t>Buildings assessed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3F0FC"/>
                </a:solidFill>
              </a:rPr>
              <a:t>in Debby &amp; Helene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417320"/>
            <a:ext cx="1965960" cy="1417320"/>
          </a:xfrm>
          <a:prstGeom prst="rect">
            <a:avLst/>
          </a:prstGeom>
          <a:solidFill>
            <a:srgbClr val="102943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5087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88E5"/>
                </a:solidFill>
              </a:rPr>
              <a:t>18 min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606040" y="21031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F0FC"/>
                </a:solidFill>
              </a:rPr>
              <a:t>AI processing 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3F0FC"/>
                </a:solidFill>
              </a:rPr>
              <a:t>vs. days manually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1965960" cy="1417320"/>
          </a:xfrm>
          <a:prstGeom prst="rect">
            <a:avLst/>
          </a:prstGeom>
          <a:solidFill>
            <a:srgbClr val="102943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087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88E5"/>
                </a:solidFill>
              </a:rPr>
              <a:t>91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54880" y="21031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F0FC"/>
                </a:solidFill>
              </a:rPr>
              <a:t>Professionals from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3F0FC"/>
                </a:solidFill>
              </a:rPr>
              <a:t>57 govt. agencies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1417320"/>
            <a:ext cx="1965960" cy="1417320"/>
          </a:xfrm>
          <a:prstGeom prst="rect">
            <a:avLst/>
          </a:prstGeom>
          <a:solidFill>
            <a:srgbClr val="102943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15087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88E5"/>
                </a:solidFill>
              </a:rPr>
              <a:t>43%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903720" y="21031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F0FC"/>
                </a:solidFill>
              </a:rPr>
              <a:t>Committed to use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3F0FC"/>
                </a:solidFill>
              </a:rPr>
              <a:t>in 2025 season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8229600" cy="182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2724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3F0FC"/>
                </a:solidFill>
              </a:rPr>
              <a:t>The question of whether AI helps in disaster response has already been answered.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3F0FC"/>
                </a:solidFill>
              </a:rPr>
              <a:t>Our project's question is: how do we make it better, faster, and more accessible — especially where maps don't exist?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</a:rPr>
              <a:t>Our Solution: A Two-Stage Pipeline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46E7A"/>
                </a:solidFill>
              </a:rPr>
              <a:t>No pre-existing maps needed. No manual alignment. Works anywhere drones fly.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200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813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E88E5"/>
                </a:solidFill>
              </a:rPr>
              <a:t>STAGE 1 — LOCALIZATION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Find the Buildings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3F0FC"/>
                </a:solidFill>
              </a:rPr>
              <a:t>Raw drone image is the only input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49631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3F0FC"/>
                </a:solidFill>
              </a:rPr>
              <a:t>Model scans every pixel like the human eye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9806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3F0FC"/>
                </a:solidFill>
              </a:rPr>
              <a:t>Detects building shapes from visual patterns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0998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3F0FC"/>
                </a:solidFill>
              </a:rPr>
              <a:t>Draws its own outlines on detected buildings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4015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3F0FC"/>
                </a:solidFill>
              </a:rPr>
              <a:t>Works in mapped AND unmapped areas equally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069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8E5"/>
                </a:solidFill>
              </a:rPr>
              <a:t>✓  Addresses 39.1% map-misalignment gap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62272" y="2971800"/>
            <a:ext cx="2286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7408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754880" y="1417320"/>
            <a:ext cx="3931920" cy="3200400"/>
          </a:xfrm>
          <a:prstGeom prst="rect">
            <a:avLst/>
          </a:prstGeom>
          <a:solidFill>
            <a:srgbClr val="E3F0FC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4813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565C0"/>
                </a:solidFill>
              </a:rPr>
              <a:t>STAGE 2 — CLASSIFICATION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17830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137"/>
                </a:solidFill>
              </a:rPr>
              <a:t>Judge the Damage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219456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</a:rPr>
              <a:t>Each detected building is assessed individually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49631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</a:rPr>
              <a:t>Assigned one of 4 damage labels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79806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</a:rPr>
              <a:t>Given a confidence score for every prediction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0998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</a:rPr>
              <a:t>Uncertain predictions flagged for human review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4015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</a:rPr>
              <a:t>Regional priority summary generated for managers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4069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</a:rPr>
              <a:t>✓  Adds confidence scores + usable output formats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</a:rPr>
              <a:t>The Data: CRASAR-U-DROIDs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46E7A"/>
                </a:solidFill>
              </a:rPr>
              <a:t>The dataset behind our entire pipeline — 10 real federally declared disasters.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965960" cy="12344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88E5"/>
                </a:solidFill>
              </a:rPr>
              <a:t>52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99339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Orthomosaic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Drone Maps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417320"/>
            <a:ext cx="1965960" cy="12344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508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88E5"/>
                </a:solidFill>
              </a:rPr>
              <a:t>10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606040" y="199339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Disaster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Events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1965960" cy="12344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08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88E5"/>
                </a:solidFill>
              </a:rPr>
              <a:t>21,716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54880" y="199339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Labeled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Buildings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1417320"/>
            <a:ext cx="1965960" cy="12344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1508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88E5"/>
                </a:solidFill>
              </a:rPr>
              <a:t>67 GB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903720" y="199339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 Aerial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Imagery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4114800" cy="1828800"/>
          </a:xfrm>
          <a:prstGeom prst="rect">
            <a:avLst/>
          </a:prstGeom>
          <a:solidFill>
            <a:srgbClr val="E3F0FC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077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565C0"/>
                </a:solidFill>
              </a:rPr>
              <a:t>TRAIN SET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2461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2137"/>
                </a:solidFill>
              </a:rPr>
              <a:t>Hurricane Ian · Laura · Ida · Harvey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2137"/>
                </a:solidFill>
              </a:rPr>
              <a:t>Kilauea Eruption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2137"/>
                </a:solidFill>
              </a:rPr>
              <a:t>Champlain Towers Collapse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834640"/>
            <a:ext cx="3931920" cy="1828800"/>
          </a:xfrm>
          <a:prstGeom prst="rect">
            <a:avLst/>
          </a:prstGeom>
          <a:solidFill>
            <a:srgbClr val="EBF4FB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9077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D2137"/>
                </a:solidFill>
              </a:rPr>
              <a:t>TEST SET (Out-of-Distribution)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324612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2137"/>
                </a:solidFill>
              </a:rPr>
              <a:t>Hurricane Idalia · Hurricane Michael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2137"/>
                </a:solidFill>
              </a:rPr>
              <a:t>Mussett Bayou Fire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2137"/>
                </a:solidFill>
              </a:rPr>
              <a:t>Mayfield Tornado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</a:rPr>
              <a:t>Data Preprocessing Pipeline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46E7A"/>
                </a:solidFill>
              </a:rPr>
              <a:t>6 steps transform raw gigapixel drone maps into clean AI-ready training tiles.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6908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88E5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15568" y="153619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Load GeoTIFF + JSON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184708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F0FC"/>
                </a:solidFill>
              </a:rPr>
              <a:t>Read the giant drone orthomosaic and building annotation files.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406908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88E5"/>
                </a:solidFill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15568" y="263347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Alignment Correction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94436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F0FC"/>
                </a:solidFill>
              </a:rPr>
              <a:t>Fix building outline offsets using aligned JSON coordinates.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406908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88E5"/>
                </a:solidFill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15568" y="373075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Generate Masks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404164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F0FC"/>
                </a:solidFill>
              </a:rPr>
              <a:t>Draw building polygons as white pixels on a black canvas.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1463040"/>
            <a:ext cx="4069080" cy="960120"/>
          </a:xfrm>
          <a:prstGeom prst="rect">
            <a:avLst/>
          </a:prstGeom>
          <a:solidFill>
            <a:srgbClr val="E3F0FC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58968" y="153619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Tile into 512×512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58968" y="184708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Cut the giant image into puzzle pieces with 128px overlap.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560320"/>
            <a:ext cx="4069080" cy="960120"/>
          </a:xfrm>
          <a:prstGeom prst="rect">
            <a:avLst/>
          </a:prstGeom>
          <a:solidFill>
            <a:srgbClr val="E3F0FC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58968" y="263347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Smart Filter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58968" y="294436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Keep only tiles containing buildings. Discard empty background tiles.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657600"/>
            <a:ext cx="4069080" cy="960120"/>
          </a:xfrm>
          <a:prstGeom prst="rect">
            <a:avLst/>
          </a:prstGeom>
          <a:solidFill>
            <a:srgbClr val="E3F0FC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06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58968" y="373075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Augment &amp; Normalize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58968" y="404164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Flip, rotate, brightness shifts. Standardize to ImageNet norms.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</a:rPr>
              <a:t>Stage 1 — Localization: Experimental Journey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46E7A"/>
                </a:solidFill>
              </a:rPr>
              <a:t>Systematic improvement from basic CNN to Transformer architecture.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3611880"/>
            <a:ext cx="7772400" cy="9144"/>
          </a:xfrm>
          <a:prstGeom prst="rect">
            <a:avLst/>
          </a:prstGeom>
          <a:solidFill>
            <a:srgbClr val="D0D8E0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347472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0.2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7772400" cy="9144"/>
          </a:xfrm>
          <a:prstGeom prst="rect">
            <a:avLst/>
          </a:prstGeom>
          <a:solidFill>
            <a:srgbClr val="D0D8E0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278892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0.4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7772400" cy="9144"/>
          </a:xfrm>
          <a:prstGeom prst="rect">
            <a:avLst/>
          </a:prstGeom>
          <a:solidFill>
            <a:srgbClr val="D0D8E0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210312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0.6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1554480"/>
            <a:ext cx="7772400" cy="9144"/>
          </a:xfrm>
          <a:prstGeom prst="rect">
            <a:avLst/>
          </a:prstGeom>
          <a:solidFill>
            <a:srgbClr val="D0D8E0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141732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0.8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234690"/>
            <a:ext cx="452628" cy="1062990"/>
          </a:xfrm>
          <a:prstGeom prst="rect">
            <a:avLst/>
          </a:prstGeom>
          <a:solidFill>
            <a:srgbClr val="90B8D8"/>
          </a:solidFill>
          <a:ln w="12700">
            <a:solidFill>
              <a:srgbClr val="90B8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2686050"/>
            <a:ext cx="452628" cy="161163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41173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</a:rPr>
              <a:t>0.47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437083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U-Net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(Basic)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057400" y="2754630"/>
            <a:ext cx="452628" cy="1543050"/>
          </a:xfrm>
          <a:prstGeom prst="rect">
            <a:avLst/>
          </a:prstGeom>
          <a:solidFill>
            <a:srgbClr val="90B8D8"/>
          </a:solidFill>
          <a:ln w="12700">
            <a:solidFill>
              <a:srgbClr val="90B8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0" y="2171700"/>
            <a:ext cx="452628" cy="212598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57400" y="18973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</a:rPr>
              <a:t>0.62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0" y="437083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U-Net +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ResNet34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74720" y="2548890"/>
            <a:ext cx="452628" cy="1748790"/>
          </a:xfrm>
          <a:prstGeom prst="rect">
            <a:avLst/>
          </a:prstGeom>
          <a:solidFill>
            <a:srgbClr val="90B8D8"/>
          </a:solidFill>
          <a:ln w="12700">
            <a:solidFill>
              <a:srgbClr val="90B8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77640" y="2000250"/>
            <a:ext cx="452628" cy="229743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72593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</a:rPr>
              <a:t>0.67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29000" y="437083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U-Net +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ResNet34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Geo Split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92040" y="2446020"/>
            <a:ext cx="452628" cy="1851660"/>
          </a:xfrm>
          <a:prstGeom prst="rect">
            <a:avLst/>
          </a:prstGeom>
          <a:solidFill>
            <a:srgbClr val="90B8D8"/>
          </a:solidFill>
          <a:ln w="12700">
            <a:solidFill>
              <a:srgbClr val="90B8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94960" y="1897380"/>
            <a:ext cx="452628" cy="24003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6230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</a:rPr>
              <a:t>0.70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437083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U-Net +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EffNet-B4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309360" y="2240280"/>
            <a:ext cx="452628" cy="2057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12280" y="1828800"/>
            <a:ext cx="452628" cy="24688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15544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</a:rPr>
              <a:t>0.72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63640" y="437083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UNet +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</a:rPr>
              <a:t>MiT-B3 ✅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40080" y="4297680"/>
            <a:ext cx="7772400" cy="182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49440" y="1554480"/>
            <a:ext cx="228600" cy="1828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23760" y="15361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F1 Score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949440" y="1828800"/>
            <a:ext cx="228600" cy="182880"/>
          </a:xfrm>
          <a:prstGeom prst="rect">
            <a:avLst/>
          </a:prstGeom>
          <a:solidFill>
            <a:srgbClr val="90B8D8"/>
          </a:solidFill>
          <a:ln w="12700">
            <a:solidFill>
              <a:srgbClr val="90B8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23760" y="18105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IoU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</a:rPr>
              <a:t>Stage 1 Final Model: UNet + MiT-B3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46E7A"/>
                </a:solidFill>
              </a:rPr>
              <a:t>Mix Transformer B3 encoder — sees both global and local context simultaneously.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361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88E5"/>
                </a:solidFill>
              </a:rPr>
              <a:t>MiT-B3 Encoder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8105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F0FC"/>
                </a:solidFill>
              </a:rPr>
              <a:t>Hierarchical Transformer — sees both global and local context across the full image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5486400" cy="685800"/>
          </a:xfrm>
          <a:prstGeom prst="rect">
            <a:avLst/>
          </a:prstGeom>
          <a:solidFill>
            <a:srgbClr val="E3F0FC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134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UNet Decoder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5877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Reconstructs full-resolution building mask from multi-scale features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4864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090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88E5"/>
                </a:solidFill>
              </a:rPr>
              <a:t>scSE Attention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3649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F0FC"/>
                </a:solidFill>
              </a:rPr>
              <a:t>Focuses decoder on building pixels vs. background noise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5486400" cy="685800"/>
          </a:xfrm>
          <a:prstGeom prst="rect">
            <a:avLst/>
          </a:prstGeom>
          <a:solidFill>
            <a:srgbClr val="E3F0FC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8679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ImageNet Pretrained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41422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Starts with rich learned visual knowledge — faster convergence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463040"/>
            <a:ext cx="2468880" cy="34747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53619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E88E5"/>
                </a:solidFill>
              </a:rPr>
              <a:t>FINAL RESULTS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100" kern="0" dirty="0">
                <a:solidFill>
                  <a:srgbClr val="1E88E5"/>
                </a:solidFill>
              </a:rPr>
              <a:t>(OOD Test)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0" y="21945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0.60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217920" y="2788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F0FC"/>
                </a:solidFill>
              </a:rPr>
              <a:t>Validation IoU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92240" y="3108960"/>
            <a:ext cx="1920240" cy="182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32004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88E5"/>
                </a:solidFill>
              </a:rPr>
              <a:t>0.722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217920" y="3794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F0FC"/>
                </a:solidFill>
              </a:rPr>
              <a:t>Validation F1 Score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4206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Tested on 4 unseen disasters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</a:rPr>
              <a:t>Between Stages: Mask → Individual Building Crops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46E7A"/>
                </a:solidFill>
              </a:rPr>
              <a:t>Stage 1 outputs a building mask. 5 steps convert it to individual building images for Stage 2.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463040"/>
            <a:ext cx="1572768" cy="2286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572768"/>
            <a:ext cx="438912" cy="43891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727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0624" y="2121408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Binary Mask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0624" y="2505456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3F0FC"/>
                </a:solidFill>
              </a:rPr>
              <a:t>MiT-B3 outputs white=building, black=background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56232" y="2286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066544" y="1463040"/>
            <a:ext cx="1572768" cy="2286000"/>
          </a:xfrm>
          <a:prstGeom prst="rect">
            <a:avLst/>
          </a:prstGeom>
          <a:solidFill>
            <a:srgbClr val="E3F0FC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33472" y="1572768"/>
            <a:ext cx="438912" cy="43891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33472" y="15727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39696" y="2121408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</a:rPr>
              <a:t>Find Buildings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39696" y="2505456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Group connected white pixels into separate regions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75304" y="2286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785616" y="1463040"/>
            <a:ext cx="1572768" cy="2286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52544" y="1572768"/>
            <a:ext cx="438912" cy="43891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52544" y="15727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58768" y="2121408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Extract Features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58768" y="2505456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3F0FC"/>
                </a:solidFill>
              </a:rPr>
              <a:t>Bounding box · Pixel area · GPS · Confidence score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294376" y="2286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504688" y="1463040"/>
            <a:ext cx="1572768" cy="2286000"/>
          </a:xfrm>
          <a:prstGeom prst="rect">
            <a:avLst/>
          </a:prstGeom>
          <a:solidFill>
            <a:srgbClr val="E3F0FC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71616" y="1572768"/>
            <a:ext cx="438912" cy="43891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71616" y="15727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77840" y="2121408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</a:rPr>
              <a:t>Crop Buildings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77840" y="2505456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Cut each building from the original high-res image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013448" y="2286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223760" y="1463040"/>
            <a:ext cx="1572768" cy="2286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90688" y="1572768"/>
            <a:ext cx="438912" cy="43891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90688" y="15727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96912" y="2121408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Feed Stage 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96912" y="2505456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3F0FC"/>
                </a:solidFill>
              </a:rPr>
              <a:t>Each crop sent to MaxViT for damage classification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977640"/>
            <a:ext cx="8229600" cy="182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46E7A"/>
                </a:solidFill>
              </a:rPr>
              <a:t>Stage 1 circles every building on a map. We cut out each circled building as a photo. Each photo goes to Stage 2: 'How badly is this damaged?'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</a:rPr>
              <a:t>Stage 2 — Classification: Experimental Journey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46E7A"/>
                </a:solidFill>
              </a:rPr>
              <a:t>Each model introduced better techniques. Hardest challenge: distinguishing Minor from Major damage.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4475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77440" y="1444752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Techniques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1444752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Macro F1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0" y="144475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Accuracy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229600" cy="594360"/>
          </a:xfrm>
          <a:prstGeom prst="rect">
            <a:avLst/>
          </a:prstGeom>
          <a:solidFill>
            <a:srgbClr val="F7FB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842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2137"/>
                </a:solidFill>
              </a:rPr>
              <a:t>EfficientNet-B4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198424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CNN baseline — Focal Loss + Label Smoothing + MixUp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75120" y="198424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2137"/>
                </a:solidFill>
              </a:rPr>
              <a:t>0.57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26680" y="198424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2137"/>
                </a:solidFill>
              </a:rPr>
              <a:t>57%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578608"/>
            <a:ext cx="8229600" cy="594360"/>
          </a:xfrm>
          <a:prstGeom prst="rect">
            <a:avLst/>
          </a:prstGeom>
          <a:solidFill>
            <a:srgbClr val="F7FB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42616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2137"/>
                </a:solidFill>
              </a:rPr>
              <a:t>ConvNeXt-Base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77440" y="2642616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Stronger backbone + EMA + CutMix + OneCycle LR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75120" y="2642616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2137"/>
                </a:solidFill>
              </a:rPr>
              <a:t>0.63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26680" y="264261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2137"/>
                </a:solidFill>
              </a:rPr>
              <a:t>65%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236976"/>
            <a:ext cx="8229600" cy="594360"/>
          </a:xfrm>
          <a:prstGeom prst="rect">
            <a:avLst/>
          </a:prstGeom>
          <a:solidFill>
            <a:srgbClr val="E3F0FC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36976"/>
            <a:ext cx="73152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300984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MaxViT-Base 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77440" y="330098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Multi-axis Transformer + Lion optimizer + 8×TTA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75120" y="3300984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0.69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26680" y="330098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72%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8229600" cy="182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46E7A"/>
                </a:solidFill>
              </a:rPr>
              <a:t>⚠ Hardest class pair: Minor (F1=0.55) vs Major (F1=0.58) — subtle damage differences require both fine texture and global structure to distinguish.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</a:rPr>
              <a:t>Stage 2 Final Model: MaxViT-Base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46E7A"/>
                </a:solidFill>
              </a:rPr>
              <a:t>Multi-Axis Vision Transformer — local texture AND global structural context simultaneously.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361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88E5"/>
                </a:solidFill>
              </a:rPr>
              <a:t>MBConv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8105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F0FC"/>
                </a:solidFill>
              </a:rPr>
              <a:t>Local CNN — captures roof textures, surface cracks, and fine edge details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5486400" cy="685800"/>
          </a:xfrm>
          <a:prstGeom prst="rect">
            <a:avLst/>
          </a:prstGeom>
          <a:solidFill>
            <a:srgbClr val="E3F0FC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134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Window Attention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5877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Local transformer — captures building-level damage patterns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4864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090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88E5"/>
                </a:solidFill>
              </a:rPr>
              <a:t>Grid Attention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3649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F0FC"/>
                </a:solidFill>
              </a:rPr>
              <a:t>Global transformer — captures regional context across buildings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5486400" cy="685800"/>
          </a:xfrm>
          <a:prstGeom prst="rect">
            <a:avLst/>
          </a:prstGeom>
          <a:solidFill>
            <a:srgbClr val="E3F0FC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8679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ImageNet-21k Pretrained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41422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21M image pretraining — much stronger starting point than ImageNet-1k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463040"/>
            <a:ext cx="2468880" cy="34747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53619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E88E5"/>
                </a:solidFill>
              </a:rPr>
              <a:t>FINAL RESULTS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100" kern="0" dirty="0">
                <a:solidFill>
                  <a:srgbClr val="1E88E5"/>
                </a:solidFill>
              </a:rPr>
              <a:t>8×TTA + EMA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5080" y="21762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No Damage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60920" y="2212848"/>
            <a:ext cx="1097280" cy="182880"/>
          </a:xfrm>
          <a:prstGeom prst="rect">
            <a:avLst/>
          </a:prstGeom>
          <a:solidFill>
            <a:srgbClr val="1C3A54"/>
          </a:solidFill>
          <a:ln w="12700">
            <a:solidFill>
              <a:srgbClr val="1C3A5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60920" y="2212848"/>
            <a:ext cx="899770" cy="1828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0920" y="243230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0.82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55080" y="27706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Destroyed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60920" y="2807208"/>
            <a:ext cx="1097280" cy="182880"/>
          </a:xfrm>
          <a:prstGeom prst="rect">
            <a:avLst/>
          </a:prstGeom>
          <a:solidFill>
            <a:srgbClr val="1C3A54"/>
          </a:solidFill>
          <a:ln w="12700">
            <a:solidFill>
              <a:srgbClr val="1C3A5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2807208"/>
            <a:ext cx="899770" cy="1828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60920" y="302666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0.82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55080" y="33649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Major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60920" y="3401568"/>
            <a:ext cx="1097280" cy="182880"/>
          </a:xfrm>
          <a:prstGeom prst="rect">
            <a:avLst/>
          </a:prstGeom>
          <a:solidFill>
            <a:srgbClr val="1C3A54"/>
          </a:solidFill>
          <a:ln w="12700">
            <a:solidFill>
              <a:srgbClr val="1C3A5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60920" y="3401568"/>
            <a:ext cx="636422" cy="1828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60920" y="362102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0.58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55080" y="39593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Minor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60920" y="3995928"/>
            <a:ext cx="1097280" cy="182880"/>
          </a:xfrm>
          <a:prstGeom prst="rect">
            <a:avLst/>
          </a:prstGeom>
          <a:solidFill>
            <a:srgbClr val="1C3A54"/>
          </a:solidFill>
          <a:ln w="12700">
            <a:solidFill>
              <a:srgbClr val="1C3A5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60920" y="3995928"/>
            <a:ext cx="603504" cy="1828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60920" y="421538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0.55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0" y="4572000"/>
            <a:ext cx="2103120" cy="182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46634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8E5"/>
                </a:solidFill>
              </a:rPr>
              <a:t>Macro F1: 0.69  |  Accuracy: 72%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</a:rPr>
              <a:t>The Complete Pipeline: Drone Image → Emergency Decision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46E7A"/>
                </a:solidFill>
              </a:rPr>
              <a:t>Input: gigapixel drone map of a disaster zone. Output: ranked building priority list, ready within minutes.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1298448" cy="1417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55448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Raw Drone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Image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2103120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3F0FC"/>
                </a:solidFill>
              </a:rPr>
              <a:t>GeoTIFF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3F0FC"/>
                </a:solidFill>
              </a:rPr>
              <a:t>orthomosaic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54480" y="2011680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65C0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764792" y="1463040"/>
            <a:ext cx="1298448" cy="1417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64792" y="155448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Preprocessing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64792" y="2103120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3F0FC"/>
                </a:solidFill>
              </a:rPr>
              <a:t>Tile · Align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3F0FC"/>
                </a:solidFill>
              </a:rPr>
              <a:t>Mask · Filter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99232" y="2011680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65C0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09544" y="1463040"/>
            <a:ext cx="1298448" cy="1417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9544" y="155448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MiT-B3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Localization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9544" y="2103120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3F0FC"/>
                </a:solidFill>
              </a:rPr>
              <a:t>Val IoU: 0.60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3F0FC"/>
                </a:solidFill>
              </a:rPr>
              <a:t>No map needed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43984" y="2011680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65C0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54296" y="1463040"/>
            <a:ext cx="1298448" cy="1417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54296" y="155448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Extraction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54296" y="2103120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3F0FC"/>
                </a:solidFill>
              </a:rPr>
              <a:t>Crops + GPS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3F0FC"/>
                </a:solidFill>
              </a:rPr>
              <a:t>+ Confidence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88736" y="2011680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65C0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99048" y="1463040"/>
            <a:ext cx="1298448" cy="1417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99048" y="155448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MaxViT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Classification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99048" y="2103120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3F0FC"/>
                </a:solidFill>
              </a:rPr>
              <a:t>Macro F1: 0.69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3F0FC"/>
                </a:solidFill>
              </a:rPr>
              <a:t>4 damage classes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33488" y="2011680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65C0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43800" y="1463040"/>
            <a:ext cx="1298448" cy="1417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43800" y="155448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Output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Managers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43800" y="2103120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3F0FC"/>
                </a:solidFill>
              </a:rPr>
              <a:t>Priority map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3F0FC"/>
                </a:solidFill>
              </a:rPr>
              <a:t>+ Scores + GPS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12724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E88E5"/>
                </a:solidFill>
              </a:rPr>
              <a:t>SAMPLE OUTPUT — ZONE: Suwannee County, FL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474720"/>
            <a:ext cx="1554480" cy="1371600"/>
          </a:xfrm>
          <a:prstGeom prst="rect">
            <a:avLst/>
          </a:prstGeom>
          <a:solidFill>
            <a:srgbClr val="E3F0FC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5661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222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57200" y="40690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Total buildings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detected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148840" y="3474720"/>
            <a:ext cx="1554480" cy="1371600"/>
          </a:xfrm>
          <a:prstGeom prst="rect">
            <a:avLst/>
          </a:prstGeom>
          <a:solidFill>
            <a:srgbClr val="E3F0FC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48840" y="35661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18 + 41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2148840" y="40690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Destroyed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Major damage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840480" y="3474720"/>
            <a:ext cx="1554480" cy="1371600"/>
          </a:xfrm>
          <a:prstGeom prst="rect">
            <a:avLst/>
          </a:prstGeom>
          <a:solidFill>
            <a:srgbClr val="E3F0FC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0" y="35661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67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3840480" y="40690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Minor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damage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532120" y="3474720"/>
            <a:ext cx="1554480" cy="1371600"/>
          </a:xfrm>
          <a:prstGeom prst="rect">
            <a:avLst/>
          </a:prstGeom>
          <a:solidFill>
            <a:srgbClr val="E3F0FC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32120" y="35661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96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532120" y="40690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No damage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223760" y="3474720"/>
            <a:ext cx="1554480" cy="1371600"/>
          </a:xfrm>
          <a:prstGeom prst="rect">
            <a:avLst/>
          </a:prstGeom>
          <a:solidFill>
            <a:srgbClr val="E3F0FC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23760" y="35661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HIGH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7223760" y="40690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Priority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Level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Results: How Well Does Our System Perform?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869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3F0FC"/>
                </a:solidFill>
              </a:rPr>
              <a:t>Our pipeline outperforms the base paper by a significant margin on the same out-of-distribution test set.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88E5"/>
                </a:solidFill>
              </a:rPr>
              <a:t>Macro F1 Score Comparison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3F0FC"/>
                </a:solidFill>
              </a:rPr>
              <a:t>Base Paper (Manzini et al., 2025)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304288"/>
            <a:ext cx="5486400" cy="347472"/>
          </a:xfrm>
          <a:prstGeom prst="rect">
            <a:avLst/>
          </a:prstGeom>
          <a:solidFill>
            <a:srgbClr val="0A1929"/>
          </a:solidFill>
          <a:ln w="12700">
            <a:solidFill>
              <a:srgbClr val="1C3A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304288"/>
            <a:ext cx="3017520" cy="347472"/>
          </a:xfrm>
          <a:prstGeom prst="rect">
            <a:avLst/>
          </a:prstGeom>
          <a:solidFill>
            <a:srgbClr val="2A4A70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84448" y="230428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0.55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3F0FC"/>
                </a:solidFill>
              </a:rPr>
              <a:t>Our System (MaxViT + MiT-B3)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310128"/>
            <a:ext cx="5486400" cy="347472"/>
          </a:xfrm>
          <a:prstGeom prst="rect">
            <a:avLst/>
          </a:prstGeom>
          <a:solidFill>
            <a:srgbClr val="0A1929"/>
          </a:solidFill>
          <a:ln w="12700">
            <a:solidFill>
              <a:srgbClr val="1C3A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310128"/>
            <a:ext cx="3785616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52544" y="331012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0.69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88E5"/>
                </a:solidFill>
              </a:rPr>
              <a:t>+25%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00800" y="2286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F0FC"/>
                </a:solidFill>
              </a:rPr>
              <a:t>improvement over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3F0FC"/>
                </a:solidFill>
              </a:rPr>
              <a:t>the base paper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8229600" cy="182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Our results: 0.69  ·  Base paper results: 0.55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</a:rPr>
              <a:t>Why Trust It? Three Layers of Reliability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46E7A"/>
                </a:solidFill>
              </a:rPr>
              <a:t>Trust is built into the design — not added as an afterthought.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5361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8E5"/>
                </a:solidFill>
              </a:rPr>
              <a:t>Layer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00200" y="153619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Real Data, Real Disasters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847088"/>
            <a:ext cx="7772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F0FC"/>
                </a:solidFill>
              </a:rPr>
              <a:t>Trained and tested on 10 actual federally declared disasters — not simulations. Hurricanes, tornadoes, wildfires, volcano eruptions, building collapses. 21,716 building labels. 67 GB of real disaster aerial imagery.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578608"/>
            <a:ext cx="8229600" cy="1005840"/>
          </a:xfrm>
          <a:prstGeom prst="rect">
            <a:avLst/>
          </a:prstGeom>
          <a:solidFill>
            <a:srgbClr val="E3F0FC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578608"/>
            <a:ext cx="73152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651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65C0"/>
                </a:solidFill>
              </a:rPr>
              <a:t>Layer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00200" y="2651760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2137"/>
                </a:solidFill>
              </a:rPr>
              <a:t>Honest Predictions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2962656"/>
            <a:ext cx="7772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Every output includes a confidence score. If the model is uncertain, it says so. Uncertain predictions are automatically flagged for human review. 92% confidence → sent directly to manager. 58% confidence → flagged for human expert.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694176"/>
            <a:ext cx="82296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694176"/>
            <a:ext cx="73152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7673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8E5"/>
                </a:solidFill>
              </a:rPr>
              <a:t>Layer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00200" y="376732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Built on Proven Ground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4078224"/>
            <a:ext cx="7772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F0FC"/>
                </a:solidFill>
              </a:rPr>
              <a:t>The underlying AI-based damage assessment approach has been validated by real government agencies during the 2024 hurricane season. Deployed operationally in Hurricanes Debby &amp; Helene. Adopted by 57 agencies.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137"/>
                </a:solidFill>
              </a:rPr>
              <a:t>What We Built. Why It Matters.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46E7A"/>
                </a:solidFill>
              </a:rPr>
              <a:t>A complete, map-independent AI pipeline for building damage assessment from drone imagery.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6908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64008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3619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88E5"/>
                </a:solidFill>
              </a:rPr>
              <a:t>Real 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847088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F0FC"/>
                </a:solidFill>
              </a:rPr>
              <a:t>Every day, disaster teams drown in drone footage. AI is the only practical solution fast enough to matter.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4069080" cy="960120"/>
          </a:xfrm>
          <a:prstGeom prst="rect">
            <a:avLst/>
          </a:prstGeom>
          <a:solidFill>
            <a:srgbClr val="E3F0FC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514600"/>
            <a:ext cx="64008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8775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Already Proven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898648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Base system deployed in two real hurricanes in 2024. 415 buildings assessed in 18 minutes. Adopted by 57 govt. agencies.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406908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66160"/>
            <a:ext cx="64008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63931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88E5"/>
                </a:solidFill>
              </a:rPr>
              <a:t>Fixed Key Weakness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950208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F0FC"/>
                </a:solidFill>
              </a:rPr>
              <a:t>Existing system depended on pre-existing maps that often don't exist or are misaligned. Our Stage 1 removes that dependency entirely.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463040"/>
            <a:ext cx="4114800" cy="960120"/>
          </a:xfrm>
          <a:prstGeom prst="rect">
            <a:avLst/>
          </a:prstGeom>
          <a:solidFill>
            <a:srgbClr val="E3F0FC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1463040"/>
            <a:ext cx="64008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5361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Added What Was Missing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184708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Confidence scores, regional priority summaries, and output formats emergency managers can actually use.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14600"/>
            <a:ext cx="411480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514600"/>
            <a:ext cx="64008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5877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88E5"/>
                </a:solidFill>
              </a:rPr>
              <a:t>Works Anywhere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289864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F0FC"/>
                </a:solidFill>
              </a:rPr>
              <a:t>No map needed means this system works in rural, remote, and developing regions where existing tools completely fail.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0"/>
            <a:ext cx="8229600" cy="228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Thank You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3F0FC"/>
                </a:solidFill>
              </a:rPr>
              <a:t>AI-Powered Building Damage Assessment for Disaster Response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88E5"/>
                </a:solidFill>
              </a:rPr>
              <a:t>Open for Questions &amp; Discussion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Dataset: CRASAR-U-DROIDs  ·  10 Federally Declared Disasters  ·  21,716 Building Labels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Based on: Manzini et al. (2025) — Deploying Rapid Damage Assessments from sUAS Imagery for Disaster Response  ·  AAAI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Building Damage Assessment</dc:title>
  <dc:subject>PptxGenJS Presentation</dc:subject>
  <dc:creator>PptxGenJS</dc:creator>
  <cp:lastModifiedBy>PptxGenJS</cp:lastModifiedBy>
  <cp:revision>1</cp:revision>
  <dcterms:created xsi:type="dcterms:W3CDTF">2026-05-05T17:39:54Z</dcterms:created>
  <dcterms:modified xsi:type="dcterms:W3CDTF">2026-05-05T17:39:54Z</dcterms:modified>
</cp:coreProperties>
</file>